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256" r:id="rId3"/>
    <p:sldId id="258" r:id="rId4"/>
    <p:sldId id="257" r:id="rId5"/>
    <p:sldId id="278" r:id="rId7"/>
    <p:sldId id="279" r:id="rId8"/>
    <p:sldId id="280" r:id="rId9"/>
    <p:sldId id="281" r:id="rId10"/>
    <p:sldId id="282" r:id="rId11"/>
    <p:sldId id="283" r:id="rId12"/>
    <p:sldId id="284" r:id="rId13"/>
    <p:sldId id="291" r:id="rId14"/>
    <p:sldId id="285" r:id="rId15"/>
    <p:sldId id="286" r:id="rId16"/>
    <p:sldId id="288" r:id="rId17"/>
    <p:sldId id="289" r:id="rId18"/>
    <p:sldId id="274" r:id="rId19"/>
  </p:sldIdLst>
  <p:sldSz cx="12192000" cy="6858000"/>
  <p:notesSz cx="6858000" cy="9144000"/>
  <p:embeddedFontLs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等线 Light" panose="02010600030101010101" charset="-122"/>
      <p:regular r:id="rId28"/>
    </p:embeddedFont>
    <p:embeddedFont>
      <p:font typeface="等线" panose="02010600030101010101" charset="-122"/>
      <p:regular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2" y="546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829FD-DD90-4EE7-BCD7-4AF299D6F45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FCC504F5-317D-4294-815B-28489BDC5845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000" b="1">
              <a:latin typeface="Calibri" panose="020F0502020204030204" charset="0"/>
              <a:cs typeface="Calibri" panose="020F0502020204030204" charset="0"/>
            </a:rPr>
            <a:t>Simulation</a:t>
          </a:r>
          <a:endParaRPr lang="en-US" sz="1000" b="1">
            <a:latin typeface="Calibri" panose="020F0502020204030204" charset="0"/>
            <a:cs typeface="Calibri" panose="020F0502020204030204" charset="0"/>
          </a:endParaRPr>
        </a:p>
      </dgm:t>
    </dgm:pt>
    <dgm:pt modelId="{8F05BE86-1921-41BD-B82E-72272E9475E9}" cxnId="{559F2F4A-51F7-4726-A3B2-85B946374DBB}" type="parTrans">
      <dgm:prSet/>
      <dgm:spPr/>
      <dgm:t>
        <a:bodyPr/>
        <a:p>
          <a:endParaRPr lang="en-US"/>
        </a:p>
      </dgm:t>
    </dgm:pt>
    <dgm:pt modelId="{67223200-D196-44B3-9DFD-D095DDBC10AB}" cxnId="{559F2F4A-51F7-4726-A3B2-85B946374DBB}" type="sibTrans">
      <dgm:prSet/>
      <dgm:spPr/>
      <dgm:t>
        <a:bodyPr/>
        <a:p>
          <a:endParaRPr lang="en-US"/>
        </a:p>
      </dgm:t>
    </dgm:pt>
    <dgm:pt modelId="{F3F66F6A-184E-4CBB-A544-AC2BF2A74FC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Simulate 4 Accelerometer Data Streams (multi-frequency sine waves + noise with rolling time window)</a:t>
          </a:r>
          <a:r>
            <a:rPr lang="en-US">
              <a:latin typeface="Calibri" panose="020F0502020204030204" charset="0"/>
              <a:cs typeface="Calibri" panose="020F0502020204030204" charset="0"/>
            </a:rPr>
            <a:t/>
          </a:r>
          <a:endParaRPr lang="en-US">
            <a:latin typeface="Calibri" panose="020F0502020204030204" charset="0"/>
            <a:cs typeface="Calibri" panose="020F0502020204030204" charset="0"/>
          </a:endParaRPr>
        </a:p>
      </dgm:t>
    </dgm:pt>
    <dgm:pt modelId="{7A0C70B0-5DAE-45AB-9915-863AC3FA4D2D}" cxnId="{8CAAA9B0-E2DA-43B8-888C-E75FBCEFC0D5}" type="parTrans">
      <dgm:prSet/>
      <dgm:spPr/>
      <dgm:t>
        <a:bodyPr/>
        <a:p>
          <a:endParaRPr lang="en-US"/>
        </a:p>
      </dgm:t>
    </dgm:pt>
    <dgm:pt modelId="{47DD308A-8526-455B-A37F-FEE2CC1C75AF}" cxnId="{8CAAA9B0-E2DA-43B8-888C-E75FBCEFC0D5}" type="sibTrans">
      <dgm:prSet/>
      <dgm:spPr/>
      <dgm:t>
        <a:bodyPr/>
        <a:p>
          <a:endParaRPr lang="en-US"/>
        </a:p>
      </dgm:t>
    </dgm:pt>
    <dgm:pt modelId="{780FAED3-C4BD-4FF1-8B67-8499CCFAE2E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Process Data</a:t>
          </a: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gm:t>
    </dgm:pt>
    <dgm:pt modelId="{88C57C74-C9C4-46CF-A10B-13A1A1E7714C}" cxnId="{69FD2CD6-827A-40E9-8ADD-8049560B8AFD}" type="parTrans">
      <dgm:prSet/>
      <dgm:spPr/>
      <dgm:t>
        <a:bodyPr/>
        <a:p>
          <a:endParaRPr lang="en-US"/>
        </a:p>
      </dgm:t>
    </dgm:pt>
    <dgm:pt modelId="{34435F2A-D730-405E-99D5-BBC9FB7499FA}" cxnId="{69FD2CD6-827A-40E9-8ADD-8049560B8AFD}" type="sibTrans">
      <dgm:prSet/>
      <dgm:spPr/>
      <dgm:t>
        <a:bodyPr/>
        <a:p>
          <a:endParaRPr lang="en-US"/>
        </a:p>
      </dgm:t>
    </dgm:pt>
    <dgm:pt modelId="{3E6D5D4F-935E-467F-A6CA-DFB49E904BF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Compute RMS</a:t>
          </a:r>
          <a:r>
            <a:rPr lang="en-US" altLang="en-US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>
            <a:latin typeface="Calibri" panose="020F0502020204030204" charset="0"/>
            <a:cs typeface="Calibri" panose="020F0502020204030204" charset="0"/>
          </a:endParaRPr>
        </a:p>
      </dgm:t>
    </dgm:pt>
    <dgm:pt modelId="{DFE6860A-9AF6-4E3A-8810-968954321458}" cxnId="{0EFE22D4-147C-478E-B1DA-8605C671F579}" type="parTrans">
      <dgm:prSet/>
      <dgm:spPr/>
      <dgm:t>
        <a:bodyPr/>
        <a:p>
          <a:endParaRPr lang="en-US"/>
        </a:p>
      </dgm:t>
    </dgm:pt>
    <dgm:pt modelId="{F6E211F9-5728-4C1B-B4EC-036ED0730A63}" cxnId="{0EFE22D4-147C-478E-B1DA-8605C671F579}" type="sibTrans">
      <dgm:prSet/>
      <dgm:spPr/>
      <dgm:t>
        <a:bodyPr/>
        <a:p>
          <a:endParaRPr lang="en-US"/>
        </a:p>
      </dgm:t>
    </dgm:pt>
    <dgm:pt modelId="{DBE87743-DCB6-4297-A77A-CE32BC55033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Detect Peak values</a:t>
          </a:r>
          <a:r>
            <a:rPr lang="en-US" altLang="en-US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>
            <a:latin typeface="Calibri" panose="020F0502020204030204" charset="0"/>
            <a:cs typeface="Calibri" panose="020F0502020204030204" charset="0"/>
          </a:endParaRPr>
        </a:p>
      </dgm:t>
    </dgm:pt>
    <dgm:pt modelId="{444E538E-9856-4522-8DE5-C2557E833405}" cxnId="{89F32070-FE56-4C5E-B41E-C6C47D9C4642}" type="parTrans">
      <dgm:prSet/>
      <dgm:spPr/>
    </dgm:pt>
    <dgm:pt modelId="{5110B786-7C54-4D1A-B2DF-A3A4163B0B16}" cxnId="{89F32070-FE56-4C5E-B41E-C6C47D9C4642}" type="sibTrans">
      <dgm:prSet/>
      <dgm:spPr/>
    </dgm:pt>
    <dgm:pt modelId="{AB69D408-9874-4062-A5E2-F8064B71CFC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Perform FFT for each sensor</a:t>
          </a:r>
          <a:r>
            <a:rPr lang="en-US">
              <a:latin typeface="Calibri" panose="020F0502020204030204" charset="0"/>
              <a:cs typeface="Calibri" panose="020F0502020204030204" charset="0"/>
            </a:rPr>
            <a:t/>
          </a:r>
          <a:endParaRPr lang="en-US">
            <a:latin typeface="Calibri" panose="020F0502020204030204" charset="0"/>
            <a:cs typeface="Calibri" panose="020F0502020204030204" charset="0"/>
          </a:endParaRPr>
        </a:p>
      </dgm:t>
    </dgm:pt>
    <dgm:pt modelId="{E0ADD173-53F8-43F7-B01A-24E29A7EE296}" cxnId="{A4299706-089A-41C4-807B-DF0CCA6CF880}" type="parTrans">
      <dgm:prSet/>
      <dgm:spPr/>
    </dgm:pt>
    <dgm:pt modelId="{C338F69C-4B20-4EAE-8772-482425EB67C8}" cxnId="{A4299706-089A-41C4-807B-DF0CCA6CF880}" type="sibTrans">
      <dgm:prSet/>
      <dgm:spPr/>
    </dgm:pt>
    <dgm:pt modelId="{1D70B282-9875-47E1-864B-0DB9F83A330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Display Data in GUI</a:t>
          </a: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gm:t>
    </dgm:pt>
    <dgm:pt modelId="{4682E278-8387-4875-A48B-989607C0A09E}" cxnId="{55B565A3-91CC-42AC-944D-BDBF9FF88B5D}" type="parTrans">
      <dgm:prSet/>
      <dgm:spPr/>
      <dgm:t>
        <a:bodyPr/>
        <a:p>
          <a:endParaRPr lang="en-US"/>
        </a:p>
      </dgm:t>
    </dgm:pt>
    <dgm:pt modelId="{DF77052B-043C-4E4A-8039-9D1D7DFB40F4}" cxnId="{55B565A3-91CC-42AC-944D-BDBF9FF88B5D}" type="sibTrans">
      <dgm:prSet/>
      <dgm:spPr/>
      <dgm:t>
        <a:bodyPr/>
        <a:p>
          <a:endParaRPr lang="en-US"/>
        </a:p>
      </dgm:t>
    </dgm:pt>
    <dgm:pt modelId="{30BE85C4-8BB0-4C0C-B58F-618B83FFA90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Show real-time waveforms</a:t>
          </a:r>
          <a:r>
            <a:rPr lang="en-US" altLang="en-US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>
            <a:latin typeface="Calibri" panose="020F0502020204030204" charset="0"/>
            <a:cs typeface="Calibri" panose="020F0502020204030204" charset="0"/>
          </a:endParaRPr>
        </a:p>
      </dgm:t>
    </dgm:pt>
    <dgm:pt modelId="{99A19955-80B2-46DE-B74C-C0C8C4D708F2}" cxnId="{379501D4-1635-472B-83F9-210231F1DDB9}" type="parTrans">
      <dgm:prSet/>
      <dgm:spPr/>
      <dgm:t>
        <a:bodyPr/>
        <a:p>
          <a:endParaRPr lang="en-US"/>
        </a:p>
      </dgm:t>
    </dgm:pt>
    <dgm:pt modelId="{CB48F5C6-507D-451D-9B2B-7C607BFEAF95}" cxnId="{379501D4-1635-472B-83F9-210231F1DDB9}" type="sibTrans">
      <dgm:prSet/>
      <dgm:spPr/>
      <dgm:t>
        <a:bodyPr/>
        <a:p>
          <a:endParaRPr lang="en-US"/>
        </a:p>
      </dgm:t>
    </dgm:pt>
    <dgm:pt modelId="{9DAE8FE4-3DBC-47AB-8DDF-53CAD69CB4B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Show frequency spectrum (FFT)</a:t>
          </a:r>
          <a:r>
            <a:rPr lang="en-US" altLang="en-US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>
            <a:latin typeface="Calibri" panose="020F0502020204030204" charset="0"/>
            <a:cs typeface="Calibri" panose="020F0502020204030204" charset="0"/>
          </a:endParaRPr>
        </a:p>
      </dgm:t>
    </dgm:pt>
    <dgm:pt modelId="{A5CA64F6-FDBF-4DE2-8D25-FC4C75ACDEB9}" cxnId="{5595FCE3-619A-44A3-9B4C-39D2BE917705}" type="parTrans">
      <dgm:prSet/>
      <dgm:spPr/>
    </dgm:pt>
    <dgm:pt modelId="{F0F5E40F-B4A4-4F84-BB14-B58851B9E5B1}" cxnId="{5595FCE3-619A-44A3-9B4C-39D2BE917705}" type="sibTrans">
      <dgm:prSet/>
      <dgm:spPr/>
    </dgm:pt>
    <dgm:pt modelId="{B726C28E-517A-4B49-BB51-73E84FF961A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Calibri" panose="020F0502020204030204" charset="0"/>
              <a:cs typeface="Calibri" panose="020F0502020204030204" charset="0"/>
            </a:rPr>
            <a:t>Display RMS, peak, and status info</a:t>
          </a:r>
          <a:r>
            <a:rPr lang="en-US">
              <a:latin typeface="Calibri" panose="020F0502020204030204" charset="0"/>
              <a:cs typeface="Calibri" panose="020F0502020204030204" charset="0"/>
            </a:rPr>
            <a:t/>
          </a:r>
          <a:endParaRPr lang="en-US">
            <a:latin typeface="Calibri" panose="020F0502020204030204" charset="0"/>
            <a:cs typeface="Calibri" panose="020F0502020204030204" charset="0"/>
          </a:endParaRPr>
        </a:p>
      </dgm:t>
    </dgm:pt>
    <dgm:pt modelId="{FDBAFFAB-C9D4-46C3-B222-83EB6475075B}" cxnId="{673747AF-4265-4C4E-A584-7404F1A0548B}" type="parTrans">
      <dgm:prSet/>
      <dgm:spPr/>
    </dgm:pt>
    <dgm:pt modelId="{263A76B5-FFEC-47AC-8AD5-81270A6F1DE7}" cxnId="{673747AF-4265-4C4E-A584-7404F1A0548B}" type="sibTrans">
      <dgm:prSet/>
      <dgm:spPr/>
    </dgm:pt>
    <dgm:pt modelId="{7BB0B505-7D43-42E4-8FC0-6C91316CBFEB}" type="pres">
      <dgm:prSet presAssocID="{DF9829FD-DD90-4EE7-BCD7-4AF299D6F45A}" presName="linearFlow" presStyleCnt="0">
        <dgm:presLayoutVars>
          <dgm:dir/>
          <dgm:animLvl val="lvl"/>
          <dgm:resizeHandles val="exact"/>
        </dgm:presLayoutVars>
      </dgm:prSet>
      <dgm:spPr/>
    </dgm:pt>
    <dgm:pt modelId="{97F2BEE4-0E0F-4FCA-A4B0-E20AD8C04C13}" type="pres">
      <dgm:prSet presAssocID="{FCC504F5-317D-4294-815B-28489BDC5845}" presName="composite" presStyleCnt="0"/>
      <dgm:spPr/>
    </dgm:pt>
    <dgm:pt modelId="{A16E3110-57E1-4619-A55C-DCD0DD5CE084}" type="pres">
      <dgm:prSet presAssocID="{FCC504F5-317D-4294-815B-28489BDC584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44D3F38-216B-445A-B1B9-8008AEDB7A9D}" type="pres">
      <dgm:prSet presAssocID="{FCC504F5-317D-4294-815B-28489BDC5845}" presName="descendantText" presStyleLbl="alignAcc1" presStyleIdx="0" presStyleCnt="3">
        <dgm:presLayoutVars>
          <dgm:bulletEnabled val="1"/>
        </dgm:presLayoutVars>
      </dgm:prSet>
      <dgm:spPr/>
    </dgm:pt>
    <dgm:pt modelId="{D3A691E5-F443-4F8D-81BB-9D15C0875E8C}" type="pres">
      <dgm:prSet presAssocID="{67223200-D196-44B3-9DFD-D095DDBC10AB}" presName="sp" presStyleCnt="0"/>
      <dgm:spPr/>
    </dgm:pt>
    <dgm:pt modelId="{D4BECBBB-7CE2-4791-839D-9FE6F36B775D}" type="pres">
      <dgm:prSet presAssocID="{780FAED3-C4BD-4FF1-8B67-8499CCFAE2ED}" presName="composite" presStyleCnt="0"/>
      <dgm:spPr/>
    </dgm:pt>
    <dgm:pt modelId="{722E1094-83C7-45E2-B20F-DB9D09AD94F0}" type="pres">
      <dgm:prSet presAssocID="{780FAED3-C4BD-4FF1-8B67-8499CCFAE2E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C67BBE6-9B82-4D3D-BF22-48713AF46E9C}" type="pres">
      <dgm:prSet presAssocID="{780FAED3-C4BD-4FF1-8B67-8499CCFAE2ED}" presName="descendantText" presStyleLbl="alignAcc1" presStyleIdx="1" presStyleCnt="3">
        <dgm:presLayoutVars>
          <dgm:bulletEnabled val="1"/>
        </dgm:presLayoutVars>
      </dgm:prSet>
      <dgm:spPr/>
    </dgm:pt>
    <dgm:pt modelId="{5C381A65-34D3-41B1-9499-0884AAA35FC6}" type="pres">
      <dgm:prSet presAssocID="{34435F2A-D730-405E-99D5-BBC9FB7499FA}" presName="sp" presStyleCnt="0"/>
      <dgm:spPr/>
    </dgm:pt>
    <dgm:pt modelId="{C1BF0EA4-CB4D-4391-82EF-EC1874A282F9}" type="pres">
      <dgm:prSet presAssocID="{1D70B282-9875-47E1-864B-0DB9F83A3309}" presName="composite" presStyleCnt="0"/>
      <dgm:spPr/>
    </dgm:pt>
    <dgm:pt modelId="{95C8A2DE-C1F8-4D5A-A3A4-1DC2FA1C0073}" type="pres">
      <dgm:prSet presAssocID="{1D70B282-9875-47E1-864B-0DB9F83A330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E17FEF5-EEE1-41BB-96FD-8FBB3FCF3860}" type="pres">
      <dgm:prSet presAssocID="{1D70B282-9875-47E1-864B-0DB9F83A330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59F2F4A-51F7-4726-A3B2-85B946374DBB}" srcId="{DF9829FD-DD90-4EE7-BCD7-4AF299D6F45A}" destId="{FCC504F5-317D-4294-815B-28489BDC5845}" srcOrd="0" destOrd="0" parTransId="{8F05BE86-1921-41BD-B82E-72272E9475E9}" sibTransId="{67223200-D196-44B3-9DFD-D095DDBC10AB}"/>
    <dgm:cxn modelId="{8CAAA9B0-E2DA-43B8-888C-E75FBCEFC0D5}" srcId="{FCC504F5-317D-4294-815B-28489BDC5845}" destId="{F3F66F6A-184E-4CBB-A544-AC2BF2A74FC0}" srcOrd="0" destOrd="0" parTransId="{7A0C70B0-5DAE-45AB-9915-863AC3FA4D2D}" sibTransId="{47DD308A-8526-455B-A37F-FEE2CC1C75AF}"/>
    <dgm:cxn modelId="{69FD2CD6-827A-40E9-8ADD-8049560B8AFD}" srcId="{DF9829FD-DD90-4EE7-BCD7-4AF299D6F45A}" destId="{780FAED3-C4BD-4FF1-8B67-8499CCFAE2ED}" srcOrd="1" destOrd="0" parTransId="{88C57C74-C9C4-46CF-A10B-13A1A1E7714C}" sibTransId="{34435F2A-D730-405E-99D5-BBC9FB7499FA}"/>
    <dgm:cxn modelId="{0EFE22D4-147C-478E-B1DA-8605C671F579}" srcId="{780FAED3-C4BD-4FF1-8B67-8499CCFAE2ED}" destId="{3E6D5D4F-935E-467F-A6CA-DFB49E904BF2}" srcOrd="0" destOrd="1" parTransId="{DFE6860A-9AF6-4E3A-8810-968954321458}" sibTransId="{F6E211F9-5728-4C1B-B4EC-036ED0730A63}"/>
    <dgm:cxn modelId="{89F32070-FE56-4C5E-B41E-C6C47D9C4642}" srcId="{780FAED3-C4BD-4FF1-8B67-8499CCFAE2ED}" destId="{DBE87743-DCB6-4297-A77A-CE32BC550334}" srcOrd="1" destOrd="1" parTransId="{444E538E-9856-4522-8DE5-C2557E833405}" sibTransId="{5110B786-7C54-4D1A-B2DF-A3A4163B0B16}"/>
    <dgm:cxn modelId="{A4299706-089A-41C4-807B-DF0CCA6CF880}" srcId="{780FAED3-C4BD-4FF1-8B67-8499CCFAE2ED}" destId="{AB69D408-9874-4062-A5E2-F8064B71CFC2}" srcOrd="2" destOrd="1" parTransId="{E0ADD173-53F8-43F7-B01A-24E29A7EE296}" sibTransId="{C338F69C-4B20-4EAE-8772-482425EB67C8}"/>
    <dgm:cxn modelId="{55B565A3-91CC-42AC-944D-BDBF9FF88B5D}" srcId="{DF9829FD-DD90-4EE7-BCD7-4AF299D6F45A}" destId="{1D70B282-9875-47E1-864B-0DB9F83A3309}" srcOrd="2" destOrd="0" parTransId="{4682E278-8387-4875-A48B-989607C0A09E}" sibTransId="{DF77052B-043C-4E4A-8039-9D1D7DFB40F4}"/>
    <dgm:cxn modelId="{379501D4-1635-472B-83F9-210231F1DDB9}" srcId="{1D70B282-9875-47E1-864B-0DB9F83A3309}" destId="{30BE85C4-8BB0-4C0C-B58F-618B83FFA907}" srcOrd="0" destOrd="2" parTransId="{99A19955-80B2-46DE-B74C-C0C8C4D708F2}" sibTransId="{CB48F5C6-507D-451D-9B2B-7C607BFEAF95}"/>
    <dgm:cxn modelId="{5595FCE3-619A-44A3-9B4C-39D2BE917705}" srcId="{1D70B282-9875-47E1-864B-0DB9F83A3309}" destId="{9DAE8FE4-3DBC-47AB-8DDF-53CAD69CB4BA}" srcOrd="1" destOrd="2" parTransId="{A5CA64F6-FDBF-4DE2-8D25-FC4C75ACDEB9}" sibTransId="{F0F5E40F-B4A4-4F84-BB14-B58851B9E5B1}"/>
    <dgm:cxn modelId="{673747AF-4265-4C4E-A584-7404F1A0548B}" srcId="{1D70B282-9875-47E1-864B-0DB9F83A3309}" destId="{B726C28E-517A-4B49-BB51-73E84FF961A1}" srcOrd="2" destOrd="2" parTransId="{FDBAFFAB-C9D4-46C3-B222-83EB6475075B}" sibTransId="{263A76B5-FFEC-47AC-8AD5-81270A6F1DE7}"/>
    <dgm:cxn modelId="{D3312D09-36BA-4273-8D49-6E778795797F}" type="presOf" srcId="{DF9829FD-DD90-4EE7-BCD7-4AF299D6F45A}" destId="{7BB0B505-7D43-42E4-8FC0-6C91316CBFEB}" srcOrd="0" destOrd="0" presId="urn:microsoft.com/office/officeart/2005/8/layout/chevron2"/>
    <dgm:cxn modelId="{F4CCB7D4-BA27-4B93-9DD6-9BBED92B4FA6}" type="presParOf" srcId="{7BB0B505-7D43-42E4-8FC0-6C91316CBFEB}" destId="{97F2BEE4-0E0F-4FCA-A4B0-E20AD8C04C13}" srcOrd="0" destOrd="0" presId="urn:microsoft.com/office/officeart/2005/8/layout/chevron2"/>
    <dgm:cxn modelId="{65CDF297-1728-433D-910E-4A279679FC5C}" type="presParOf" srcId="{97F2BEE4-0E0F-4FCA-A4B0-E20AD8C04C13}" destId="{A16E3110-57E1-4619-A55C-DCD0DD5CE084}" srcOrd="0" destOrd="0" presId="urn:microsoft.com/office/officeart/2005/8/layout/chevron2"/>
    <dgm:cxn modelId="{19708924-DDCD-40CC-9B92-16157FE8AE9B}" type="presOf" srcId="{FCC504F5-317D-4294-815B-28489BDC5845}" destId="{A16E3110-57E1-4619-A55C-DCD0DD5CE084}" srcOrd="0" destOrd="0" presId="urn:microsoft.com/office/officeart/2005/8/layout/chevron2"/>
    <dgm:cxn modelId="{365CDC04-78ED-4A72-B6DA-1B613A9FBCAF}" type="presParOf" srcId="{97F2BEE4-0E0F-4FCA-A4B0-E20AD8C04C13}" destId="{544D3F38-216B-445A-B1B9-8008AEDB7A9D}" srcOrd="1" destOrd="0" presId="urn:microsoft.com/office/officeart/2005/8/layout/chevron2"/>
    <dgm:cxn modelId="{409C3C03-F00D-48DF-8599-E8B7FDE3FA44}" type="presOf" srcId="{F3F66F6A-184E-4CBB-A544-AC2BF2A74FC0}" destId="{544D3F38-216B-445A-B1B9-8008AEDB7A9D}" srcOrd="0" destOrd="0" presId="urn:microsoft.com/office/officeart/2005/8/layout/chevron2"/>
    <dgm:cxn modelId="{7D7624D5-894A-4E58-A354-DB21E1AA3506}" type="presParOf" srcId="{7BB0B505-7D43-42E4-8FC0-6C91316CBFEB}" destId="{D3A691E5-F443-4F8D-81BB-9D15C0875E8C}" srcOrd="1" destOrd="0" presId="urn:microsoft.com/office/officeart/2005/8/layout/chevron2"/>
    <dgm:cxn modelId="{D91B2885-1D5C-4898-8386-70F335A6E1A7}" type="presOf" srcId="{67223200-D196-44B3-9DFD-D095DDBC10AB}" destId="{D3A691E5-F443-4F8D-81BB-9D15C0875E8C}" srcOrd="0" destOrd="0" presId="urn:microsoft.com/office/officeart/2005/8/layout/chevron2"/>
    <dgm:cxn modelId="{C98F6F11-D819-42F3-958B-C4E3EAB5D8A5}" type="presParOf" srcId="{7BB0B505-7D43-42E4-8FC0-6C91316CBFEB}" destId="{D4BECBBB-7CE2-4791-839D-9FE6F36B775D}" srcOrd="2" destOrd="0" presId="urn:microsoft.com/office/officeart/2005/8/layout/chevron2"/>
    <dgm:cxn modelId="{D3D7DE25-7ECB-442F-99D6-94EB0E75B264}" type="presParOf" srcId="{D4BECBBB-7CE2-4791-839D-9FE6F36B775D}" destId="{722E1094-83C7-45E2-B20F-DB9D09AD94F0}" srcOrd="0" destOrd="2" presId="urn:microsoft.com/office/officeart/2005/8/layout/chevron2"/>
    <dgm:cxn modelId="{F1A075A2-4D07-409F-87CF-ED30AD153301}" type="presOf" srcId="{780FAED3-C4BD-4FF1-8B67-8499CCFAE2ED}" destId="{722E1094-83C7-45E2-B20F-DB9D09AD94F0}" srcOrd="0" destOrd="0" presId="urn:microsoft.com/office/officeart/2005/8/layout/chevron2"/>
    <dgm:cxn modelId="{C7CEF1F7-87FD-4237-BBEC-504FF39EBB66}" type="presParOf" srcId="{D4BECBBB-7CE2-4791-839D-9FE6F36B775D}" destId="{AC67BBE6-9B82-4D3D-BF22-48713AF46E9C}" srcOrd="1" destOrd="2" presId="urn:microsoft.com/office/officeart/2005/8/layout/chevron2"/>
    <dgm:cxn modelId="{1813D80A-EBAF-48AE-A0F8-86F910A7BC00}" type="presOf" srcId="{3E6D5D4F-935E-467F-A6CA-DFB49E904BF2}" destId="{AC67BBE6-9B82-4D3D-BF22-48713AF46E9C}" srcOrd="0" destOrd="0" presId="urn:microsoft.com/office/officeart/2005/8/layout/chevron2"/>
    <dgm:cxn modelId="{F5D5BB5A-6305-4152-A3B4-15EAF1BC9574}" type="presOf" srcId="{DBE87743-DCB6-4297-A77A-CE32BC550334}" destId="{AC67BBE6-9B82-4D3D-BF22-48713AF46E9C}" srcOrd="0" destOrd="1" presId="urn:microsoft.com/office/officeart/2005/8/layout/chevron2"/>
    <dgm:cxn modelId="{6867EA43-ED86-4072-892C-302B4C5D8C28}" type="presOf" srcId="{AB69D408-9874-4062-A5E2-F8064B71CFC2}" destId="{AC67BBE6-9B82-4D3D-BF22-48713AF46E9C}" srcOrd="0" destOrd="2" presId="urn:microsoft.com/office/officeart/2005/8/layout/chevron2"/>
    <dgm:cxn modelId="{E09D71BE-D48C-4ABE-AABA-2C7453AC6F67}" type="presParOf" srcId="{7BB0B505-7D43-42E4-8FC0-6C91316CBFEB}" destId="{5C381A65-34D3-41B1-9499-0884AAA35FC6}" srcOrd="3" destOrd="0" presId="urn:microsoft.com/office/officeart/2005/8/layout/chevron2"/>
    <dgm:cxn modelId="{9F3A5D3E-697E-483A-992E-5D59A85D76F9}" type="presOf" srcId="{34435F2A-D730-405E-99D5-BBC9FB7499FA}" destId="{5C381A65-34D3-41B1-9499-0884AAA35FC6}" srcOrd="0" destOrd="0" presId="urn:microsoft.com/office/officeart/2005/8/layout/chevron2"/>
    <dgm:cxn modelId="{396B1654-D40E-4778-B59C-00F6086C1C4F}" type="presParOf" srcId="{7BB0B505-7D43-42E4-8FC0-6C91316CBFEB}" destId="{C1BF0EA4-CB4D-4391-82EF-EC1874A282F9}" srcOrd="4" destOrd="0" presId="urn:microsoft.com/office/officeart/2005/8/layout/chevron2"/>
    <dgm:cxn modelId="{2D7A4943-83CE-472F-94B9-C574BF6B96D6}" type="presParOf" srcId="{C1BF0EA4-CB4D-4391-82EF-EC1874A282F9}" destId="{95C8A2DE-C1F8-4D5A-A3A4-1DC2FA1C0073}" srcOrd="0" destOrd="4" presId="urn:microsoft.com/office/officeart/2005/8/layout/chevron2"/>
    <dgm:cxn modelId="{A0C96E3B-405A-4A6E-9509-4346CA8C1EAA}" type="presOf" srcId="{1D70B282-9875-47E1-864B-0DB9F83A3309}" destId="{95C8A2DE-C1F8-4D5A-A3A4-1DC2FA1C0073}" srcOrd="0" destOrd="0" presId="urn:microsoft.com/office/officeart/2005/8/layout/chevron2"/>
    <dgm:cxn modelId="{75C5DFDE-F7FF-4764-B9F6-04C28981989D}" type="presParOf" srcId="{C1BF0EA4-CB4D-4391-82EF-EC1874A282F9}" destId="{BE17FEF5-EEE1-41BB-96FD-8FBB3FCF3860}" srcOrd="1" destOrd="4" presId="urn:microsoft.com/office/officeart/2005/8/layout/chevron2"/>
    <dgm:cxn modelId="{AB5AFA52-4904-427B-BD2C-307205585914}" type="presOf" srcId="{30BE85C4-8BB0-4C0C-B58F-618B83FFA907}" destId="{BE17FEF5-EEE1-41BB-96FD-8FBB3FCF3860}" srcOrd="0" destOrd="0" presId="urn:microsoft.com/office/officeart/2005/8/layout/chevron2"/>
    <dgm:cxn modelId="{3DA7CC23-9AB2-48F9-ABCE-A50C7FE7880F}" type="presOf" srcId="{9DAE8FE4-3DBC-47AB-8DDF-53CAD69CB4BA}" destId="{BE17FEF5-EEE1-41BB-96FD-8FBB3FCF3860}" srcOrd="0" destOrd="1" presId="urn:microsoft.com/office/officeart/2005/8/layout/chevron2"/>
    <dgm:cxn modelId="{80DF88A6-B0B4-4105-94F9-7BD05F52BF24}" type="presOf" srcId="{B726C28E-517A-4B49-BB51-73E84FF961A1}" destId="{BE17FEF5-EEE1-41BB-96FD-8FBB3FCF3860}" srcOrd="0" destOrd="2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9829FD-DD90-4EE7-BCD7-4AF299D6F45A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FCC504F5-317D-4294-815B-28489BDC5845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900" b="1">
              <a:latin typeface="Calibri" panose="020F0502020204030204" charset="0"/>
              <a:cs typeface="Calibri" panose="020F0502020204030204" charset="0"/>
            </a:rPr>
            <a:t>Threshold Alerting</a:t>
          </a:r>
          <a:r>
            <a:rPr lang="en-US" altLang="en-US" sz="900" b="1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900" b="1">
            <a:latin typeface="Calibri" panose="020F0502020204030204" charset="0"/>
            <a:cs typeface="Calibri" panose="020F0502020204030204" charset="0"/>
          </a:endParaRPr>
        </a:p>
      </dgm:t>
    </dgm:pt>
    <dgm:pt modelId="{8F05BE86-1921-41BD-B82E-72272E9475E9}" cxnId="{00597CCB-2AE8-46B9-B9D5-BFBD64E85D22}" type="parTrans">
      <dgm:prSet/>
      <dgm:spPr/>
      <dgm:t>
        <a:bodyPr/>
        <a:p>
          <a:endParaRPr lang="en-US"/>
        </a:p>
      </dgm:t>
    </dgm:pt>
    <dgm:pt modelId="{67223200-D196-44B3-9DFD-D095DDBC10AB}" cxnId="{00597CCB-2AE8-46B9-B9D5-BFBD64E85D22}" type="sibTrans">
      <dgm:prSet/>
      <dgm:spPr/>
      <dgm:t>
        <a:bodyPr/>
        <a:p>
          <a:endParaRPr lang="en-US"/>
        </a:p>
      </dgm:t>
    </dgm:pt>
    <dgm:pt modelId="{F3F66F6A-184E-4CBB-A544-AC2BF2A74FC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>Compare RMS with user-configured limits</a:t>
          </a: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1200">
            <a:latin typeface="Calibri" panose="020F0502020204030204" charset="0"/>
            <a:cs typeface="Calibri" panose="020F0502020204030204" charset="0"/>
          </a:endParaRPr>
        </a:p>
      </dgm:t>
    </dgm:pt>
    <dgm:pt modelId="{7A0C70B0-5DAE-45AB-9915-863AC3FA4D2D}" cxnId="{124E9EFE-AE82-4959-BF34-217723D5A923}" type="parTrans">
      <dgm:prSet/>
      <dgm:spPr/>
      <dgm:t>
        <a:bodyPr/>
        <a:p>
          <a:endParaRPr lang="en-US"/>
        </a:p>
      </dgm:t>
    </dgm:pt>
    <dgm:pt modelId="{47DD308A-8526-455B-A37F-FEE2CC1C75AF}" cxnId="{124E9EFE-AE82-4959-BF34-217723D5A923}" type="sibTrans">
      <dgm:prSet/>
      <dgm:spPr/>
      <dgm:t>
        <a:bodyPr/>
        <a:p>
          <a:endParaRPr lang="en-US"/>
        </a:p>
      </dgm:t>
    </dgm:pt>
    <dgm:pt modelId="{5AC46E3A-EDBA-4DF4-8FD9-21B4BF57B4E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> Update alert status on sensors</a:t>
          </a:r>
          <a:r>
            <a:rPr lang="en-US" sz="1200">
              <a:latin typeface="Calibri" panose="020F0502020204030204" charset="0"/>
              <a:cs typeface="Calibri" panose="020F0502020204030204" charset="0"/>
            </a:rPr>
            <a:t/>
          </a:r>
          <a:endParaRPr lang="en-US" sz="1200">
            <a:latin typeface="Calibri" panose="020F0502020204030204" charset="0"/>
            <a:cs typeface="Calibri" panose="020F0502020204030204" charset="0"/>
          </a:endParaRPr>
        </a:p>
      </dgm:t>
    </dgm:pt>
    <dgm:pt modelId="{E9B10304-6284-4620-85F4-6F867BACE682}" cxnId="{7410B026-0BC5-4BE4-AEC6-1F6F11B80F7A}" type="parTrans">
      <dgm:prSet/>
      <dgm:spPr/>
    </dgm:pt>
    <dgm:pt modelId="{299E78FE-8349-4A84-B636-D1F5DDEDFEDF}" cxnId="{7410B026-0BC5-4BE4-AEC6-1F6F11B80F7A}" type="sibTrans">
      <dgm:prSet/>
      <dgm:spPr/>
    </dgm:pt>
    <dgm:pt modelId="{780FAED3-C4BD-4FF1-8B67-8499CCFAE2E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Provide User Interaction</a:t>
          </a: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gm:t>
    </dgm:pt>
    <dgm:pt modelId="{88C57C74-C9C4-46CF-A10B-13A1A1E7714C}" cxnId="{ECBBB389-5BA7-4DC6-8DA2-C097DC1FEDC4}" type="parTrans">
      <dgm:prSet/>
      <dgm:spPr/>
      <dgm:t>
        <a:bodyPr/>
        <a:p>
          <a:endParaRPr lang="en-US"/>
        </a:p>
      </dgm:t>
    </dgm:pt>
    <dgm:pt modelId="{34435F2A-D730-405E-99D5-BBC9FB7499FA}" cxnId="{ECBBB389-5BA7-4DC6-8DA2-C097DC1FEDC4}" type="sibTrans">
      <dgm:prSet/>
      <dgm:spPr/>
      <dgm:t>
        <a:bodyPr/>
        <a:p>
          <a:endParaRPr lang="en-US"/>
        </a:p>
      </dgm:t>
    </dgm:pt>
    <dgm:pt modelId="{3E6D5D4F-935E-467F-A6CA-DFB49E904BF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>Threshold configuration input</a:t>
          </a: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/>
          </a:r>
          <a:endParaRPr lang="en-US" altLang="en-US" sz="1200">
            <a:latin typeface="Calibri" panose="020F0502020204030204" charset="0"/>
            <a:cs typeface="Calibri" panose="020F0502020204030204" charset="0"/>
          </a:endParaRPr>
        </a:p>
      </dgm:t>
    </dgm:pt>
    <dgm:pt modelId="{DFE6860A-9AF6-4E3A-8810-968954321458}" cxnId="{A3C7B1DF-FAC8-4B29-8D29-4CF25EF308F8}" type="parTrans">
      <dgm:prSet/>
      <dgm:spPr/>
      <dgm:t>
        <a:bodyPr/>
        <a:p>
          <a:endParaRPr lang="en-US"/>
        </a:p>
      </dgm:t>
    </dgm:pt>
    <dgm:pt modelId="{F6E211F9-5728-4C1B-B4EC-036ED0730A63}" cxnId="{A3C7B1DF-FAC8-4B29-8D29-4CF25EF308F8}" type="sibTrans">
      <dgm:prSet/>
      <dgm:spPr/>
      <dgm:t>
        <a:bodyPr/>
        <a:p>
          <a:endParaRPr lang="en-US"/>
        </a:p>
      </dgm:t>
    </dgm:pt>
    <dgm:pt modelId="{ABF3E2C2-82AA-4E00-873E-89584290B191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> </a:t>
          </a:r>
          <a:r>
            <a:rPr lang="en-US" altLang="en-US" sz="1200">
              <a:latin typeface="Calibri" panose="020F0502020204030204" charset="0"/>
              <a:cs typeface="Calibri" panose="020F0502020204030204" charset="0"/>
            </a:rPr>
            <a:t>Pause/Resume the data stream</a:t>
          </a:r>
          <a:r>
            <a:rPr lang="en-US" sz="1200">
              <a:latin typeface="Calibri" panose="020F0502020204030204" charset="0"/>
              <a:cs typeface="Calibri" panose="020F0502020204030204" charset="0"/>
            </a:rPr>
            <a:t/>
          </a:r>
          <a:endParaRPr lang="en-US" sz="1200">
            <a:latin typeface="Calibri" panose="020F0502020204030204" charset="0"/>
            <a:cs typeface="Calibri" panose="020F0502020204030204" charset="0"/>
          </a:endParaRPr>
        </a:p>
      </dgm:t>
    </dgm:pt>
    <dgm:pt modelId="{172453C5-41F2-4F18-8300-4D9E38A89797}" cxnId="{90612764-D535-444F-BB3B-4DD78E6D4636}" type="parTrans">
      <dgm:prSet/>
      <dgm:spPr/>
    </dgm:pt>
    <dgm:pt modelId="{8DA664CF-3BF4-4759-9A6E-09F8340AF765}" cxnId="{90612764-D535-444F-BB3B-4DD78E6D4636}" type="sibTrans">
      <dgm:prSet/>
      <dgm:spPr/>
    </dgm:pt>
    <dgm:pt modelId="{7BB0B505-7D43-42E4-8FC0-6C91316CBFEB}" type="pres">
      <dgm:prSet presAssocID="{DF9829FD-DD90-4EE7-BCD7-4AF299D6F45A}" presName="linearFlow" presStyleCnt="0">
        <dgm:presLayoutVars>
          <dgm:dir/>
          <dgm:animLvl val="lvl"/>
          <dgm:resizeHandles val="exact"/>
        </dgm:presLayoutVars>
      </dgm:prSet>
      <dgm:spPr/>
    </dgm:pt>
    <dgm:pt modelId="{97F2BEE4-0E0F-4FCA-A4B0-E20AD8C04C13}" type="pres">
      <dgm:prSet presAssocID="{FCC504F5-317D-4294-815B-28489BDC5845}" presName="composite" presStyleCnt="0"/>
      <dgm:spPr/>
    </dgm:pt>
    <dgm:pt modelId="{A16E3110-57E1-4619-A55C-DCD0DD5CE084}" type="pres">
      <dgm:prSet presAssocID="{FCC504F5-317D-4294-815B-28489BDC5845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544D3F38-216B-445A-B1B9-8008AEDB7A9D}" type="pres">
      <dgm:prSet presAssocID="{FCC504F5-317D-4294-815B-28489BDC5845}" presName="descendantText" presStyleLbl="alignAcc1" presStyleIdx="0" presStyleCnt="2">
        <dgm:presLayoutVars>
          <dgm:bulletEnabled val="1"/>
        </dgm:presLayoutVars>
      </dgm:prSet>
      <dgm:spPr/>
    </dgm:pt>
    <dgm:pt modelId="{D3A691E5-F443-4F8D-81BB-9D15C0875E8C}" type="pres">
      <dgm:prSet presAssocID="{67223200-D196-44B3-9DFD-D095DDBC10AB}" presName="sp" presStyleCnt="0"/>
      <dgm:spPr/>
    </dgm:pt>
    <dgm:pt modelId="{D4BECBBB-7CE2-4791-839D-9FE6F36B775D}" type="pres">
      <dgm:prSet presAssocID="{780FAED3-C4BD-4FF1-8B67-8499CCFAE2ED}" presName="composite" presStyleCnt="0"/>
      <dgm:spPr/>
    </dgm:pt>
    <dgm:pt modelId="{722E1094-83C7-45E2-B20F-DB9D09AD94F0}" type="pres">
      <dgm:prSet presAssocID="{780FAED3-C4BD-4FF1-8B67-8499CCFAE2ED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AC67BBE6-9B82-4D3D-BF22-48713AF46E9C}" type="pres">
      <dgm:prSet presAssocID="{780FAED3-C4BD-4FF1-8B67-8499CCFAE2ED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00597CCB-2AE8-46B9-B9D5-BFBD64E85D22}" srcId="{DF9829FD-DD90-4EE7-BCD7-4AF299D6F45A}" destId="{FCC504F5-317D-4294-815B-28489BDC5845}" srcOrd="0" destOrd="0" parTransId="{8F05BE86-1921-41BD-B82E-72272E9475E9}" sibTransId="{67223200-D196-44B3-9DFD-D095DDBC10AB}"/>
    <dgm:cxn modelId="{124E9EFE-AE82-4959-BF34-217723D5A923}" srcId="{FCC504F5-317D-4294-815B-28489BDC5845}" destId="{F3F66F6A-184E-4CBB-A544-AC2BF2A74FC0}" srcOrd="0" destOrd="0" parTransId="{7A0C70B0-5DAE-45AB-9915-863AC3FA4D2D}" sibTransId="{47DD308A-8526-455B-A37F-FEE2CC1C75AF}"/>
    <dgm:cxn modelId="{7410B026-0BC5-4BE4-AEC6-1F6F11B80F7A}" srcId="{FCC504F5-317D-4294-815B-28489BDC5845}" destId="{5AC46E3A-EDBA-4DF4-8FD9-21B4BF57B4E8}" srcOrd="1" destOrd="0" parTransId="{E9B10304-6284-4620-85F4-6F867BACE682}" sibTransId="{299E78FE-8349-4A84-B636-D1F5DDEDFEDF}"/>
    <dgm:cxn modelId="{ECBBB389-5BA7-4DC6-8DA2-C097DC1FEDC4}" srcId="{DF9829FD-DD90-4EE7-BCD7-4AF299D6F45A}" destId="{780FAED3-C4BD-4FF1-8B67-8499CCFAE2ED}" srcOrd="1" destOrd="0" parTransId="{88C57C74-C9C4-46CF-A10B-13A1A1E7714C}" sibTransId="{34435F2A-D730-405E-99D5-BBC9FB7499FA}"/>
    <dgm:cxn modelId="{A3C7B1DF-FAC8-4B29-8D29-4CF25EF308F8}" srcId="{780FAED3-C4BD-4FF1-8B67-8499CCFAE2ED}" destId="{3E6D5D4F-935E-467F-A6CA-DFB49E904BF2}" srcOrd="0" destOrd="1" parTransId="{DFE6860A-9AF6-4E3A-8810-968954321458}" sibTransId="{F6E211F9-5728-4C1B-B4EC-036ED0730A63}"/>
    <dgm:cxn modelId="{90612764-D535-444F-BB3B-4DD78E6D4636}" srcId="{780FAED3-C4BD-4FF1-8B67-8499CCFAE2ED}" destId="{ABF3E2C2-82AA-4E00-873E-89584290B191}" srcOrd="1" destOrd="1" parTransId="{172453C5-41F2-4F18-8300-4D9E38A89797}" sibTransId="{8DA664CF-3BF4-4759-9A6E-09F8340AF765}"/>
    <dgm:cxn modelId="{8B557BAC-1AC4-4DDD-959F-E51B0AC47893}" type="presOf" srcId="{DF9829FD-DD90-4EE7-BCD7-4AF299D6F45A}" destId="{7BB0B505-7D43-42E4-8FC0-6C91316CBFEB}" srcOrd="0" destOrd="0" presId="urn:microsoft.com/office/officeart/2005/8/layout/chevron2"/>
    <dgm:cxn modelId="{8ACC28C8-C90C-48B7-BAF4-A7E9D10ADEAF}" type="presParOf" srcId="{7BB0B505-7D43-42E4-8FC0-6C91316CBFEB}" destId="{97F2BEE4-0E0F-4FCA-A4B0-E20AD8C04C13}" srcOrd="0" destOrd="0" presId="urn:microsoft.com/office/officeart/2005/8/layout/chevron2"/>
    <dgm:cxn modelId="{E79537E7-F7A3-4022-BF4F-6A464EA7DF4A}" type="presParOf" srcId="{97F2BEE4-0E0F-4FCA-A4B0-E20AD8C04C13}" destId="{A16E3110-57E1-4619-A55C-DCD0DD5CE084}" srcOrd="0" destOrd="0" presId="urn:microsoft.com/office/officeart/2005/8/layout/chevron2"/>
    <dgm:cxn modelId="{BB4C95F7-A687-404D-84B9-20958E25CB74}" type="presOf" srcId="{FCC504F5-317D-4294-815B-28489BDC5845}" destId="{A16E3110-57E1-4619-A55C-DCD0DD5CE084}" srcOrd="0" destOrd="0" presId="urn:microsoft.com/office/officeart/2005/8/layout/chevron2"/>
    <dgm:cxn modelId="{C801BD22-0D4D-4419-BCA0-A14AB6E5864B}" type="presParOf" srcId="{97F2BEE4-0E0F-4FCA-A4B0-E20AD8C04C13}" destId="{544D3F38-216B-445A-B1B9-8008AEDB7A9D}" srcOrd="1" destOrd="0" presId="urn:microsoft.com/office/officeart/2005/8/layout/chevron2"/>
    <dgm:cxn modelId="{B3B0FB3A-6C48-4B09-98B2-E5C205AA6ED2}" type="presOf" srcId="{F3F66F6A-184E-4CBB-A544-AC2BF2A74FC0}" destId="{544D3F38-216B-445A-B1B9-8008AEDB7A9D}" srcOrd="0" destOrd="0" presId="urn:microsoft.com/office/officeart/2005/8/layout/chevron2"/>
    <dgm:cxn modelId="{95AF3FDE-0174-489B-B376-3F001F1FD3EB}" type="presOf" srcId="{5AC46E3A-EDBA-4DF4-8FD9-21B4BF57B4E8}" destId="{544D3F38-216B-445A-B1B9-8008AEDB7A9D}" srcOrd="0" destOrd="1" presId="urn:microsoft.com/office/officeart/2005/8/layout/chevron2"/>
    <dgm:cxn modelId="{CAF6F657-D12C-4D5D-9979-23036C852DC5}" type="presParOf" srcId="{7BB0B505-7D43-42E4-8FC0-6C91316CBFEB}" destId="{D3A691E5-F443-4F8D-81BB-9D15C0875E8C}" srcOrd="1" destOrd="0" presId="urn:microsoft.com/office/officeart/2005/8/layout/chevron2"/>
    <dgm:cxn modelId="{341DA3E2-67A0-4567-828A-CB7EF2CAAAEF}" type="presOf" srcId="{67223200-D196-44B3-9DFD-D095DDBC10AB}" destId="{D3A691E5-F443-4F8D-81BB-9D15C0875E8C}" srcOrd="0" destOrd="0" presId="urn:microsoft.com/office/officeart/2005/8/layout/chevron2"/>
    <dgm:cxn modelId="{595EADB6-B5DD-40B6-8057-788D0477BC4A}" type="presParOf" srcId="{7BB0B505-7D43-42E4-8FC0-6C91316CBFEB}" destId="{D4BECBBB-7CE2-4791-839D-9FE6F36B775D}" srcOrd="2" destOrd="0" presId="urn:microsoft.com/office/officeart/2005/8/layout/chevron2"/>
    <dgm:cxn modelId="{24A96DF1-636D-4A11-AB6B-D252A644B5E5}" type="presParOf" srcId="{D4BECBBB-7CE2-4791-839D-9FE6F36B775D}" destId="{722E1094-83C7-45E2-B20F-DB9D09AD94F0}" srcOrd="0" destOrd="2" presId="urn:microsoft.com/office/officeart/2005/8/layout/chevron2"/>
    <dgm:cxn modelId="{B68243EE-8C6F-41DC-8D57-300815889DF5}" type="presOf" srcId="{780FAED3-C4BD-4FF1-8B67-8499CCFAE2ED}" destId="{722E1094-83C7-45E2-B20F-DB9D09AD94F0}" srcOrd="0" destOrd="0" presId="urn:microsoft.com/office/officeart/2005/8/layout/chevron2"/>
    <dgm:cxn modelId="{5669870C-844E-43DD-A1C1-D15526D73ABC}" type="presParOf" srcId="{D4BECBBB-7CE2-4791-839D-9FE6F36B775D}" destId="{AC67BBE6-9B82-4D3D-BF22-48713AF46E9C}" srcOrd="1" destOrd="2" presId="urn:microsoft.com/office/officeart/2005/8/layout/chevron2"/>
    <dgm:cxn modelId="{607C81A9-7FCA-44EA-AD8D-905E1F0DEBAB}" type="presOf" srcId="{3E6D5D4F-935E-467F-A6CA-DFB49E904BF2}" destId="{AC67BBE6-9B82-4D3D-BF22-48713AF46E9C}" srcOrd="0" destOrd="0" presId="urn:microsoft.com/office/officeart/2005/8/layout/chevron2"/>
    <dgm:cxn modelId="{9C7ADA93-8F1F-42A2-9447-DAF14B23932A}" type="presOf" srcId="{ABF3E2C2-82AA-4E00-873E-89584290B191}" destId="{AC67BBE6-9B82-4D3D-BF22-48713AF46E9C}" srcOrd="0" destOrd="1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567805" cy="2870835"/>
        <a:chOff x="0" y="0"/>
        <a:chExt cx="6567805" cy="2870835"/>
      </a:xfrm>
    </dsp:grpSpPr>
    <dsp:sp modelId="{A16E3110-57E1-4619-A55C-DCD0DD5CE084}">
      <dsp:nvSpPr>
        <dsp:cNvPr id="3" name="Chevron 2"/>
        <dsp:cNvSpPr/>
      </dsp:nvSpPr>
      <dsp:spPr bwMode="white">
        <a:xfrm rot="5400000">
          <a:off x="-163935" y="163935"/>
          <a:ext cx="1092897" cy="765028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6350" tIns="6350" rIns="6350" bIns="63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000" b="1">
              <a:latin typeface="Calibri" panose="020F0502020204030204" charset="0"/>
              <a:cs typeface="Calibri" panose="020F0502020204030204" charset="0"/>
            </a:rPr>
            <a:t>Simulation</a:t>
          </a:r>
          <a:endParaRPr lang="en-US" sz="1000" b="1">
            <a:latin typeface="Calibri" panose="020F0502020204030204" charset="0"/>
            <a:cs typeface="Calibri" panose="020F0502020204030204" charset="0"/>
          </a:endParaRPr>
        </a:p>
      </dsp:txBody>
      <dsp:txXfrm rot="5400000">
        <a:off x="-163935" y="163935"/>
        <a:ext cx="1092897" cy="765028"/>
      </dsp:txXfrm>
    </dsp:sp>
    <dsp:sp modelId="{544D3F38-216B-445A-B1B9-8008AEDB7A9D}">
      <dsp:nvSpPr>
        <dsp:cNvPr id="4" name="Round Same Side Corner Rectangle 3"/>
        <dsp:cNvSpPr/>
      </dsp:nvSpPr>
      <dsp:spPr bwMode="white">
        <a:xfrm rot="5400000">
          <a:off x="3311225" y="-2546197"/>
          <a:ext cx="710383" cy="580277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5344" tIns="7620" rIns="7620" bIns="7620" anchor="ctr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Simulate 4 Accelerometer Data Streams (multi-frequency sine waves + noise with rolling time window)</a:t>
          </a:r>
          <a:endParaRPr 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 rot="5400000">
        <a:off x="3311225" y="-2546197"/>
        <a:ext cx="710383" cy="5802777"/>
      </dsp:txXfrm>
    </dsp:sp>
    <dsp:sp modelId="{722E1094-83C7-45E2-B20F-DB9D09AD94F0}">
      <dsp:nvSpPr>
        <dsp:cNvPr id="5" name="Chevron 4"/>
        <dsp:cNvSpPr/>
      </dsp:nvSpPr>
      <dsp:spPr bwMode="white">
        <a:xfrm rot="5400000">
          <a:off x="-163935" y="1052904"/>
          <a:ext cx="1092897" cy="765028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6350" tIns="6350" rIns="6350" bIns="63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Process Data</a:t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sp:txBody>
      <dsp:txXfrm rot="5400000">
        <a:off x="-163935" y="1052904"/>
        <a:ext cx="1092897" cy="765028"/>
      </dsp:txXfrm>
    </dsp:sp>
    <dsp:sp modelId="{AC67BBE6-9B82-4D3D-BF22-48713AF46E9C}">
      <dsp:nvSpPr>
        <dsp:cNvPr id="6" name="Round Same Side Corner Rectangle 5"/>
        <dsp:cNvSpPr/>
      </dsp:nvSpPr>
      <dsp:spPr bwMode="white">
        <a:xfrm rot="5400000">
          <a:off x="3311225" y="-1657228"/>
          <a:ext cx="710383" cy="580277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5344" tIns="7620" rIns="7620" bIns="7620" anchor="ctr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Compute RMS</a:t>
          </a:r>
          <a:endParaRPr lang="en-US" alt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Detect Peak values</a:t>
          </a:r>
          <a:endParaRPr lang="en-US" alt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Perform FFT for each sensor</a:t>
          </a:r>
          <a:endParaRPr 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 rot="5400000">
        <a:off x="3311225" y="-1657228"/>
        <a:ext cx="710383" cy="5802777"/>
      </dsp:txXfrm>
    </dsp:sp>
    <dsp:sp modelId="{95C8A2DE-C1F8-4D5A-A3A4-1DC2FA1C0073}">
      <dsp:nvSpPr>
        <dsp:cNvPr id="7" name="Chevron 6"/>
        <dsp:cNvSpPr/>
      </dsp:nvSpPr>
      <dsp:spPr bwMode="white">
        <a:xfrm rot="5400000">
          <a:off x="-163935" y="1941873"/>
          <a:ext cx="1092897" cy="765028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6350" tIns="6350" rIns="6350" bIns="63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Display Data in GUI</a:t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sp:txBody>
      <dsp:txXfrm rot="5400000">
        <a:off x="-163935" y="1941873"/>
        <a:ext cx="1092897" cy="765028"/>
      </dsp:txXfrm>
    </dsp:sp>
    <dsp:sp modelId="{BE17FEF5-EEE1-41BB-96FD-8FBB3FCF3860}">
      <dsp:nvSpPr>
        <dsp:cNvPr id="8" name="Round Same Side Corner Rectangle 7"/>
        <dsp:cNvSpPr/>
      </dsp:nvSpPr>
      <dsp:spPr bwMode="white">
        <a:xfrm rot="5400000">
          <a:off x="3311225" y="-768259"/>
          <a:ext cx="710383" cy="5802777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5344" tIns="7620" rIns="7620" bIns="7620" anchor="ctr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Show real-time waveforms</a:t>
          </a:r>
          <a:endParaRPr lang="en-US" alt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Show frequency spectrum (FFT)</a:t>
          </a:r>
          <a:endParaRPr lang="en-US" alt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Display RMS, peak, and status info</a:t>
          </a:r>
          <a:endParaRPr lang="en-US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 rot="5400000">
        <a:off x="3311225" y="-768259"/>
        <a:ext cx="710383" cy="58027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654800" cy="1955800"/>
        <a:chOff x="0" y="0"/>
        <a:chExt cx="6654800" cy="1955800"/>
      </a:xfrm>
    </dsp:grpSpPr>
    <dsp:sp modelId="{A16E3110-57E1-4619-A55C-DCD0DD5CE084}">
      <dsp:nvSpPr>
        <dsp:cNvPr id="3" name="Chevron 2"/>
        <dsp:cNvSpPr/>
      </dsp:nvSpPr>
      <dsp:spPr bwMode="white">
        <a:xfrm rot="5400000">
          <a:off x="-169960" y="169960"/>
          <a:ext cx="1133070" cy="79314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5715" tIns="5715" rIns="5715" bIns="571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900" b="1">
              <a:latin typeface="Calibri" panose="020F0502020204030204" charset="0"/>
              <a:cs typeface="Calibri" panose="020F0502020204030204" charset="0"/>
            </a:rPr>
            <a:t>Threshold Alerting</a:t>
          </a:r>
          <a:endParaRPr lang="en-US" altLang="en-US" sz="900" b="1">
            <a:latin typeface="Calibri" panose="020F0502020204030204" charset="0"/>
            <a:cs typeface="Calibri" panose="020F0502020204030204" charset="0"/>
          </a:endParaRPr>
        </a:p>
      </dsp:txBody>
      <dsp:txXfrm rot="5400000">
        <a:off x="-169960" y="169960"/>
        <a:ext cx="1133070" cy="793149"/>
      </dsp:txXfrm>
    </dsp:sp>
    <dsp:sp modelId="{544D3F38-216B-445A-B1B9-8008AEDB7A9D}">
      <dsp:nvSpPr>
        <dsp:cNvPr id="4" name="Round Same Side Corner Rectangle 3"/>
        <dsp:cNvSpPr/>
      </dsp:nvSpPr>
      <dsp:spPr bwMode="white">
        <a:xfrm rot="5400000">
          <a:off x="3355727" y="-2562578"/>
          <a:ext cx="736495" cy="586165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5344" tIns="7620" rIns="7620" bIns="762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Compare RMS with user-configured limits</a:t>
          </a:r>
          <a:endParaRPr lang="en-US" altLang="en-US" sz="12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 Update alert status on sensors</a:t>
          </a:r>
          <a:endParaRPr lang="en-US" sz="12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 rot="5400000">
        <a:off x="3355727" y="-2562578"/>
        <a:ext cx="736495" cy="5861651"/>
      </dsp:txXfrm>
    </dsp:sp>
    <dsp:sp modelId="{722E1094-83C7-45E2-B20F-DB9D09AD94F0}">
      <dsp:nvSpPr>
        <dsp:cNvPr id="5" name="Chevron 4"/>
        <dsp:cNvSpPr/>
      </dsp:nvSpPr>
      <dsp:spPr bwMode="white">
        <a:xfrm rot="5400000">
          <a:off x="-169960" y="992691"/>
          <a:ext cx="1133070" cy="793149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6350" tIns="6350" rIns="6350" bIns="63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 b="1">
              <a:latin typeface="Calibri" panose="020F0502020204030204" charset="0"/>
              <a:cs typeface="Calibri" panose="020F0502020204030204" charset="0"/>
            </a:rPr>
            <a:t>Provide User Interaction</a:t>
          </a:r>
          <a:endParaRPr lang="en-US" altLang="en-US" sz="1000" b="1">
            <a:latin typeface="Calibri" panose="020F0502020204030204" charset="0"/>
            <a:cs typeface="Calibri" panose="020F0502020204030204" charset="0"/>
          </a:endParaRPr>
        </a:p>
      </dsp:txBody>
      <dsp:txXfrm rot="5400000">
        <a:off x="-169960" y="992691"/>
        <a:ext cx="1133070" cy="793149"/>
      </dsp:txXfrm>
    </dsp:sp>
    <dsp:sp modelId="{AC67BBE6-9B82-4D3D-BF22-48713AF46E9C}">
      <dsp:nvSpPr>
        <dsp:cNvPr id="6" name="Round Same Side Corner Rectangle 5"/>
        <dsp:cNvSpPr/>
      </dsp:nvSpPr>
      <dsp:spPr bwMode="white">
        <a:xfrm rot="5400000">
          <a:off x="3355727" y="-1739848"/>
          <a:ext cx="736495" cy="5861651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85344" tIns="7620" rIns="7620" bIns="762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Threshold configuration input</a:t>
          </a:r>
          <a:endParaRPr lang="en-US" altLang="en-US" sz="12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  <a:p>
          <a:pPr marL="114300" lvl="1" indent="-114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 </a:t>
          </a:r>
          <a:r>
            <a:rPr lang="en-US" altLang="en-US" sz="1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Pause/Resume the data stream</a:t>
          </a:r>
          <a:endParaRPr lang="en-US" sz="12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 rot="5400000">
        <a:off x="3355727" y="-1739848"/>
        <a:ext cx="736495" cy="5861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64600-C585-4293-A2C6-1F34D82BE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3443D-8F4F-4DAC-A83B-553AE876E70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61060" y="333375"/>
            <a:ext cx="11182985" cy="1567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54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Calibri" panose="020F0502020204030204" charset="0"/>
              </a:rPr>
              <a:t>Real-Time Vibration Monitoring System</a:t>
            </a:r>
            <a:endParaRPr lang="en-US" altLang="en-US" sz="54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433083" y="1267377"/>
            <a:ext cx="6297930" cy="952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28355" y="1564005"/>
            <a:ext cx="3615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Arial" panose="020B0604020202020204" pitchFamily="34" charset="0"/>
              </a:rPr>
              <a:t>SRAVANA LEKHA KANDE</a:t>
            </a:r>
            <a:endParaRPr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7988709" y="5705372"/>
            <a:ext cx="3957485" cy="8259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4" y="263218"/>
            <a:ext cx="3957485" cy="8259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1807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jhj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602615" y="562610"/>
            <a:ext cx="29730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latin typeface="Calibri" panose="020F0502020204030204" charset="0"/>
                <a:ea typeface="Calibri" panose="020F0502020204030204" charset="0"/>
              </a:rPr>
              <a:t>CONTENTS</a:t>
            </a:r>
            <a:endParaRPr lang="en-US" altLang="zh-CN" sz="4800" dirty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765175" y="1585595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1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1205230" y="1544320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000" dirty="0" smtClean="0">
                <a:latin typeface="Calibri" panose="020F0502020204030204" charset="0"/>
                <a:ea typeface="Calibri" panose="020F0502020204030204" charset="0"/>
              </a:rPr>
              <a:t>Understanding the Case Study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2" name="椭圆 19"/>
          <p:cNvSpPr/>
          <p:nvPr>
            <p:custDataLst>
              <p:tags r:id="rId3"/>
            </p:custDataLst>
          </p:nvPr>
        </p:nvSpPr>
        <p:spPr>
          <a:xfrm>
            <a:off x="772795" y="2010410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2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3" name="椭圆 19"/>
          <p:cNvSpPr/>
          <p:nvPr>
            <p:custDataLst>
              <p:tags r:id="rId4"/>
            </p:custDataLst>
          </p:nvPr>
        </p:nvSpPr>
        <p:spPr>
          <a:xfrm>
            <a:off x="772795" y="2379980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3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4" name="椭圆 19"/>
          <p:cNvSpPr/>
          <p:nvPr>
            <p:custDataLst>
              <p:tags r:id="rId5"/>
            </p:custDataLst>
          </p:nvPr>
        </p:nvSpPr>
        <p:spPr>
          <a:xfrm>
            <a:off x="772795" y="2771140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4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6" name="椭圆 19"/>
          <p:cNvSpPr/>
          <p:nvPr>
            <p:custDataLst>
              <p:tags r:id="rId6"/>
            </p:custDataLst>
          </p:nvPr>
        </p:nvSpPr>
        <p:spPr>
          <a:xfrm>
            <a:off x="765175" y="3174365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5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7" name="椭圆 19"/>
          <p:cNvSpPr/>
          <p:nvPr>
            <p:custDataLst>
              <p:tags r:id="rId7"/>
            </p:custDataLst>
          </p:nvPr>
        </p:nvSpPr>
        <p:spPr>
          <a:xfrm>
            <a:off x="765175" y="3577590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6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9" name="椭圆 19"/>
          <p:cNvSpPr/>
          <p:nvPr>
            <p:custDataLst>
              <p:tags r:id="rId8"/>
            </p:custDataLst>
          </p:nvPr>
        </p:nvSpPr>
        <p:spPr>
          <a:xfrm>
            <a:off x="765175" y="3956685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7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10" name="椭圆 19"/>
          <p:cNvSpPr/>
          <p:nvPr>
            <p:custDataLst>
              <p:tags r:id="rId9"/>
            </p:custDataLst>
          </p:nvPr>
        </p:nvSpPr>
        <p:spPr>
          <a:xfrm>
            <a:off x="765175" y="4335780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8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11" name="椭圆 19"/>
          <p:cNvSpPr/>
          <p:nvPr>
            <p:custDataLst>
              <p:tags r:id="rId10"/>
            </p:custDataLst>
          </p:nvPr>
        </p:nvSpPr>
        <p:spPr>
          <a:xfrm>
            <a:off x="765175" y="4739005"/>
            <a:ext cx="326390" cy="29781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bg1"/>
                </a:solidFill>
                <a:latin typeface="Calibri" panose="020F0502020204030204" charset="0"/>
              </a:rPr>
              <a:t>9</a:t>
            </a:r>
            <a:endParaRPr lang="zh-CN" altLang="en-US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12" name="椭圆 19"/>
          <p:cNvSpPr/>
          <p:nvPr>
            <p:custDataLst>
              <p:tags r:id="rId11"/>
            </p:custDataLst>
          </p:nvPr>
        </p:nvSpPr>
        <p:spPr>
          <a:xfrm rot="5400000">
            <a:off x="748030" y="5104130"/>
            <a:ext cx="347345" cy="3543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l" fontAlgn="t"/>
            <a:r>
              <a:rPr lang="en-US" altLang="zh-CN" sz="1200" b="1" dirty="0">
                <a:solidFill>
                  <a:schemeClr val="bg1"/>
                </a:solidFill>
                <a:latin typeface="Calibri" panose="020F0502020204030204" charset="0"/>
              </a:rPr>
              <a:t>10</a:t>
            </a:r>
            <a:endParaRPr lang="en-US" altLang="zh-CN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16" name="文本框 20"/>
          <p:cNvSpPr txBox="1"/>
          <p:nvPr>
            <p:custDataLst>
              <p:tags r:id="rId12"/>
            </p:custDataLst>
          </p:nvPr>
        </p:nvSpPr>
        <p:spPr>
          <a:xfrm>
            <a:off x="1205230" y="1962785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 smtClean="0">
                <a:latin typeface="Calibri" panose="020F0502020204030204" charset="0"/>
                <a:ea typeface="Calibri" panose="020F0502020204030204" charset="0"/>
              </a:rPr>
              <a:t>Approach to the Case Study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7" name="文本框 20"/>
          <p:cNvSpPr txBox="1"/>
          <p:nvPr>
            <p:custDataLst>
              <p:tags r:id="rId13"/>
            </p:custDataLst>
          </p:nvPr>
        </p:nvSpPr>
        <p:spPr>
          <a:xfrm>
            <a:off x="1205230" y="2367280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Architecture Overview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9" name="文本框 20"/>
          <p:cNvSpPr txBox="1"/>
          <p:nvPr>
            <p:custDataLst>
              <p:tags r:id="rId14"/>
            </p:custDataLst>
          </p:nvPr>
        </p:nvSpPr>
        <p:spPr>
          <a:xfrm>
            <a:off x="1219835" y="2743835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Design Decisions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2" name="文本框 20"/>
          <p:cNvSpPr txBox="1"/>
          <p:nvPr>
            <p:custDataLst>
              <p:tags r:id="rId15"/>
            </p:custDataLst>
          </p:nvPr>
        </p:nvSpPr>
        <p:spPr>
          <a:xfrm>
            <a:off x="1219835" y="3125470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Planning the Workflow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3" name="文本框 20"/>
          <p:cNvSpPr txBox="1"/>
          <p:nvPr>
            <p:custDataLst>
              <p:tags r:id="rId16"/>
            </p:custDataLst>
          </p:nvPr>
        </p:nvSpPr>
        <p:spPr>
          <a:xfrm>
            <a:off x="1205230" y="3543935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How I Started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4" name="文本框 20"/>
          <p:cNvSpPr txBox="1"/>
          <p:nvPr>
            <p:custDataLst>
              <p:tags r:id="rId17"/>
            </p:custDataLst>
          </p:nvPr>
        </p:nvSpPr>
        <p:spPr>
          <a:xfrm>
            <a:off x="1205230" y="3928110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Building the GUI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5" name="文本框 20"/>
          <p:cNvSpPr txBox="1"/>
          <p:nvPr>
            <p:custDataLst>
              <p:tags r:id="rId18"/>
            </p:custDataLst>
          </p:nvPr>
        </p:nvSpPr>
        <p:spPr>
          <a:xfrm>
            <a:off x="1205230" y="4319270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Signal Processing &amp; Alerting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6" name="文本框 20"/>
          <p:cNvSpPr txBox="1"/>
          <p:nvPr>
            <p:custDataLst>
              <p:tags r:id="rId19"/>
            </p:custDataLst>
          </p:nvPr>
        </p:nvSpPr>
        <p:spPr>
          <a:xfrm>
            <a:off x="1205230" y="4711065"/>
            <a:ext cx="4647565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Integration &amp; Testing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7" name="文本框 20"/>
          <p:cNvSpPr txBox="1"/>
          <p:nvPr>
            <p:custDataLst>
              <p:tags r:id="rId20"/>
            </p:custDataLst>
          </p:nvPr>
        </p:nvSpPr>
        <p:spPr>
          <a:xfrm>
            <a:off x="1156970" y="5109845"/>
            <a:ext cx="471043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 Challenges Encountered</a:t>
            </a:r>
            <a:endParaRPr lang="en-US" altLang="en-US" sz="2000" dirty="0" smtClean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219835" y="5543550"/>
            <a:ext cx="4064000" cy="37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Improvements </a:t>
            </a:r>
            <a:endParaRPr lang="en-US" altLang="en-US" sz="2000" dirty="0">
              <a:latin typeface="Calibri" panose="020F0502020204030204" charset="0"/>
              <a:ea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40" name="椭圆 19"/>
          <p:cNvSpPr/>
          <p:nvPr>
            <p:custDataLst>
              <p:tags r:id="rId21"/>
            </p:custDataLst>
          </p:nvPr>
        </p:nvSpPr>
        <p:spPr>
          <a:xfrm rot="5400000">
            <a:off x="740410" y="5565775"/>
            <a:ext cx="347345" cy="3543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p>
            <a:pPr algn="l" fontAlgn="t"/>
            <a:r>
              <a:rPr lang="en-US" altLang="zh-CN" sz="1200" b="1" dirty="0">
                <a:solidFill>
                  <a:schemeClr val="bg1"/>
                </a:solidFill>
                <a:latin typeface="Calibri" panose="020F0502020204030204" charset="0"/>
              </a:rPr>
              <a:t>11</a:t>
            </a:r>
            <a:endParaRPr lang="en-US" altLang="zh-CN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41" name="椭圆 19"/>
          <p:cNvSpPr/>
          <p:nvPr>
            <p:custDataLst>
              <p:tags r:id="rId22"/>
            </p:custDataLst>
          </p:nvPr>
        </p:nvSpPr>
        <p:spPr>
          <a:xfrm rot="5400000">
            <a:off x="740410" y="5955030"/>
            <a:ext cx="347345" cy="3543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l" fontAlgn="t"/>
            <a:r>
              <a:rPr lang="en-US" altLang="zh-CN" sz="1200" b="1" dirty="0">
                <a:solidFill>
                  <a:schemeClr val="bg1"/>
                </a:solidFill>
                <a:latin typeface="Calibri" panose="020F0502020204030204" charset="0"/>
              </a:rPr>
              <a:t>12</a:t>
            </a:r>
            <a:endParaRPr lang="en-US" altLang="zh-CN" sz="1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1207770" y="5967095"/>
            <a:ext cx="4064000" cy="435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dirty="0">
                <a:latin typeface="Calibri" panose="020F0502020204030204" charset="0"/>
                <a:ea typeface="Calibri" panose="020F0502020204030204" charset="0"/>
                <a:sym typeface="+mn-ea"/>
              </a:rPr>
              <a:t>Conclusion &amp; Takeaways</a:t>
            </a:r>
            <a:endParaRPr lang="en-US" altLang="en-US" sz="2000" dirty="0">
              <a:latin typeface="Calibri" panose="020F0502020204030204" charset="0"/>
              <a:ea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ea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0651" y="260497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88010" y="387350"/>
            <a:ext cx="11221720" cy="6135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588107" y="5895052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1493648" y="387591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88646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1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74240" y="945515"/>
            <a:ext cx="8651875" cy="1240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 smtClean="0">
                <a:latin typeface="Calibri" panose="020F0502020204030204" charset="0"/>
                <a:ea typeface="Calibri" panose="020F0502020204030204" charset="0"/>
                <a:sym typeface="+mn-ea"/>
              </a:rPr>
              <a:t>Understanding the Case Study</a:t>
            </a:r>
            <a:endParaRPr lang="zh-CN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3026810" y="1678502"/>
            <a:ext cx="4359910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30350" y="2052955"/>
            <a:ext cx="9448800" cy="3792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Carefully read the requirements: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monitor 4 accelerometer signals, display live vibration waveforms/FFTs, implement real-time alerts, and deliver a robust, practical GUI.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Realism in simulated signals: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isn’t mandatory—instead, clarity, engineering judgment, and maintainability are key.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Identified core deliverables: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working Python application, a clear design, and an insightful presentation.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9056" y="194457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40385" y="326390"/>
            <a:ext cx="11346180" cy="61315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540482" y="5830282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1570483" y="326631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88646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2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74240" y="945515"/>
            <a:ext cx="8651875" cy="1240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 smtClean="0">
                <a:latin typeface="Calibri" panose="020F0502020204030204" charset="0"/>
                <a:ea typeface="Calibri" panose="020F0502020204030204" charset="0"/>
                <a:sym typeface="+mn-ea"/>
              </a:rPr>
              <a:t>Approach to the Case Study</a:t>
            </a:r>
            <a:endParaRPr lang="zh-CN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937910" y="1678502"/>
            <a:ext cx="4359910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29715" y="2310130"/>
            <a:ext cx="9448800" cy="3094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Broke the project into logical parts:</a:t>
            </a:r>
            <a:endParaRPr lang="en-US" alt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Simulate multi-channel sensor data</a:t>
            </a:r>
            <a:endParaRPr lang="en-US" alt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Create a responsive GUI for visualization</a:t>
            </a:r>
            <a:endParaRPr lang="en-US" alt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Implement real-time signal processing and alerting</a:t>
            </a:r>
            <a:endParaRPr lang="en-US" alt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218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3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Architecture Overview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375300" y="1242892"/>
            <a:ext cx="4359910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29715" y="1624965"/>
            <a:ext cx="9448800" cy="4901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Data Simulator:</a:t>
            </a:r>
            <a:endParaRPr lang="en-US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Generates multi-frequency synthetic accelerometer signals.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Uses sinusoidal components plus noise for realism.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Rolling time windows to simulate continuous data stream.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GUI Frontend:</a:t>
            </a:r>
            <a:endParaRPr lang="en-US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Built with PyQt5 for cross-platform desktop application.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Displays 4 independent sensor panels with waveforms and FFTs.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Threading &amp; Data Flow:</a:t>
            </a:r>
            <a:endParaRPr lang="en-US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Simulator runs in dedicated QThread to avoid blocking UI.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Data emitted via Qt signals to ensure thread-safe, asynchronous updates.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Signal Processing:</a:t>
            </a:r>
            <a:endParaRPr lang="en-US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RMS, peak, and FFT computations done on incoming data.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Alerts are triggered if vibration exceeds configured thresholds.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4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Design Decisions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248300" y="1242892"/>
            <a:ext cx="3388360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29715" y="1806575"/>
            <a:ext cx="9448800" cy="4619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Used PyQt5 to make separate sensor panels that each show their own plots and alerts, keeping the code organized and easy to manage.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Made sensor signals by adding together several sine waves with some noise; changed the time step each time to make the waveforms move and look real.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Ran the sensor simulator in a background thread so the program stays fast and the screen doesn’t freeze.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Updated the plots smoothly using matplotlib’s special redraw method without slowing down the app.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Set up live alerts that change on the screen when vibration goes above limits, so problems are easy to spot.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218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5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Planning the Workflow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781700" y="1242892"/>
            <a:ext cx="3388360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29715" y="1525270"/>
            <a:ext cx="9448800" cy="490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Selected libraries:</a:t>
            </a:r>
            <a:endParaRPr lang="en-US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PyQt5 for GUI (professional and well-supported)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matplotlib for plotting (easy to integrate in PyQt)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numpy for signal simulation and processing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Listed out main steps:</a:t>
            </a:r>
            <a:endParaRPr lang="en-US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Develop and test data simulation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Prototype core sensor visualization panel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Add multi-sensor layout and threading for live updates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Build alert logic and user controls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Iterate and refine for user experience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218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6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How I Started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310530" y="1242892"/>
            <a:ext cx="2371725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29715" y="1788795"/>
            <a:ext cx="9448800" cy="436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Began by designing and testing the accelerometer simulation.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Used a mix of sine waves and noise for each channel.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Implemented rolling time windows for dynamic, lively signals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Created small test scripts to plot waveforms and FFTs for one sensor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Confirmed signal composition looked realistic and usable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7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Building the GUI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426100" y="1242892"/>
            <a:ext cx="2856865" cy="8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624965"/>
            <a:ext cx="10300335" cy="4909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Designed a clear and organized main window that displays all four sensor panels side by side for easy comparison. 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Each sensor panel is a self-contained widget showing live vibration waveforms, FFT, and key statistics like RMS, peak,values, and status with a alert based on vibration alerts. 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To ensure smooth performance, the data simulation is run in a separate QThread, streaming signals continuously.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Using Qt signals and slots, the simulator's output is 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  <a:sym typeface="+mn-ea"/>
              </a:rPr>
              <a:t>connected 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to the GUI updates safely, maintaining thread safety and responsiveness throughout the app.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8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Signal Processing &amp; Alerting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634380" y="1233367"/>
            <a:ext cx="4589780" cy="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743075"/>
            <a:ext cx="10300335" cy="4791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Implemented RMS and peak detection to monitor vibration intensity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Added FFT per sensor for frequency analysis—ensured multiple peaks for realism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Developed user-configurable thresholds, panel status flips to “ALERT” on exceedance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970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/>
              <a:t>Show real-time waveforms</a:t>
            </a:r>
            <a:endParaRPr lang="en-US" altLang="en-US"/>
          </a:p>
          <a:p>
            <a:pPr algn="ctr"/>
            <a:r>
              <a:rPr lang="en-US" altLang="en-US"/>
              <a:t>   - Show frequency spectrum (FFT)</a:t>
            </a:r>
            <a:endParaRPr lang="en-US" altLang="en-US"/>
          </a:p>
          <a:p>
            <a:pPr algn="ctr"/>
            <a:r>
              <a:rPr lang="en-US" altLang="en-US"/>
              <a:t>   - Display RMS and peak info</a:t>
            </a:r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95375" y="39116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Flow Chart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1358665" y="1066362"/>
            <a:ext cx="1797685" cy="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/>
          <p:cNvGraphicFramePr/>
          <p:nvPr/>
        </p:nvGraphicFramePr>
        <p:xfrm>
          <a:off x="1251585" y="1679575"/>
          <a:ext cx="6567805" cy="2870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223010" y="4299585"/>
          <a:ext cx="665480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218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2350" y="488950"/>
            <a:ext cx="854710" cy="836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 smtClean="0">
                <a:solidFill>
                  <a:schemeClr val="bg1"/>
                </a:solidFill>
                <a:latin typeface="Calibri" panose="020F0502020204030204" charset="0"/>
              </a:rPr>
              <a:t>9</a:t>
            </a:r>
            <a:endParaRPr lang="en-US" altLang="zh-CN" sz="6600" b="1" dirty="0" smtClean="0">
              <a:solidFill>
                <a:schemeClr val="bg1"/>
              </a:solidFill>
              <a:latin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 Integration &amp; Testing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403240" y="1215587"/>
            <a:ext cx="3948430" cy="184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908810"/>
            <a:ext cx="10300335" cy="462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Integrated all software components: the accelerometer data simulator, sensor panels with waveforms and FFTs, and the alerting system.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Connected the simulated data stream to the GUI plots using Qt signals for real-time updates.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Tuned buffer sizes and plot redraw timing to ensure smooth and continuous visualization without lag.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Tested using various simulated signal combinations and user interactions like threshold changes.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Focused on debugging threading issues and maintaining GUI responsiveness—achieved a fluid, stable user experience.</a:t>
            </a: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218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Challenges Encountered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554370" y="1215587"/>
            <a:ext cx="3948430" cy="184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908810"/>
            <a:ext cx="10300335" cy="462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Threading &amp; Safety: 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Needed to avoid direct UI updates from worker threads—solved with Qt signals and moveToThread pattern.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Live Signals: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Original simulation created static, repetitive waveforms. Fixed by advancing the time base on every data window.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Responsiveness: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Had to tune matplotlib redraws and buffer sizes for smoothness without blocking the interface.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Realism:</a:t>
            </a:r>
            <a:r>
              <a:rPr lang="en-US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 Designing synthetic signals that represent plausible vibration required careful composition of amplitudes and frequencies.</a:t>
            </a:r>
            <a:endParaRPr lang="en-US" altLang="en-US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  <p:sp>
        <p:nvSpPr>
          <p:cNvPr id="12" name="椭圆 19"/>
          <p:cNvSpPr/>
          <p:nvPr>
            <p:custDataLst>
              <p:tags r:id="rId1"/>
            </p:custDataLst>
          </p:nvPr>
        </p:nvSpPr>
        <p:spPr>
          <a:xfrm rot="5400000">
            <a:off x="1033145" y="471805"/>
            <a:ext cx="862965" cy="9880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p>
            <a:pPr algn="l" fontAlgn="t"/>
            <a:r>
              <a:rPr lang="en-US" altLang="zh-CN" sz="3200" b="1" dirty="0">
                <a:solidFill>
                  <a:schemeClr val="bg1"/>
                </a:solidFill>
                <a:latin typeface="Calibri" panose="020F0502020204030204" charset="0"/>
              </a:rPr>
              <a:t>10</a:t>
            </a:r>
            <a:endParaRPr lang="en-US" altLang="zh-CN" sz="32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Improvements 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363870" y="1206062"/>
            <a:ext cx="2592705" cy="279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727200"/>
            <a:ext cx="10300335" cy="4807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Extend simulation to support more sensors, or shock events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Integrate with physical sensor hardware or add richer simulation scenarios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Add options for saving/exporting runs and advanced analytics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Further refine GUI layout and accessibility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Implement persistent logging for audit or field engineers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  <p:sp>
        <p:nvSpPr>
          <p:cNvPr id="12" name="椭圆 19"/>
          <p:cNvSpPr/>
          <p:nvPr>
            <p:custDataLst>
              <p:tags r:id="rId1"/>
            </p:custDataLst>
          </p:nvPr>
        </p:nvSpPr>
        <p:spPr>
          <a:xfrm rot="5400000">
            <a:off x="1050925" y="487045"/>
            <a:ext cx="808990" cy="9690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p>
            <a:pPr algn="l" fontAlgn="t"/>
            <a:r>
              <a:rPr lang="en-US" altLang="zh-CN" sz="3600" b="1" dirty="0">
                <a:solidFill>
                  <a:schemeClr val="bg1"/>
                </a:solidFill>
                <a:latin typeface="Calibri" panose="020F0502020204030204" charset="0"/>
              </a:rPr>
              <a:t>11</a:t>
            </a:r>
            <a:endParaRPr lang="en-US" altLang="zh-CN" sz="36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79226" y="196362"/>
            <a:ext cx="1242647" cy="11351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13410" y="330200"/>
            <a:ext cx="10681335" cy="63506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/>
        </p:nvSpPr>
        <p:spPr>
          <a:xfrm>
            <a:off x="624302" y="6053167"/>
            <a:ext cx="627375" cy="627375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0800000">
            <a:off x="10978663" y="328536"/>
            <a:ext cx="316526" cy="31652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101850" y="488950"/>
            <a:ext cx="865187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4000" dirty="0">
                <a:latin typeface="Calibri" panose="020F0502020204030204" charset="0"/>
                <a:ea typeface="Calibri" panose="020F0502020204030204" charset="0"/>
              </a:rPr>
              <a:t>Conclusion &amp; Takeaways</a:t>
            </a:r>
            <a:endParaRPr lang="en-US" altLang="en-US" sz="40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2399430" y="1197172"/>
            <a:ext cx="4361815" cy="36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40740" y="1908810"/>
            <a:ext cx="10300335" cy="462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Developed the system step-by-step: from clear case study analysis through design, prototyping, integration, and delivery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Focused on clarity, maintainability, and real-time performance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Happy to present a working solution that matches engineering and design goals</a:t>
            </a: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  <p:sp>
        <p:nvSpPr>
          <p:cNvPr id="12" name="椭圆 19"/>
          <p:cNvSpPr/>
          <p:nvPr>
            <p:custDataLst>
              <p:tags r:id="rId1"/>
            </p:custDataLst>
          </p:nvPr>
        </p:nvSpPr>
        <p:spPr>
          <a:xfrm rot="5400000">
            <a:off x="1041400" y="495935"/>
            <a:ext cx="764540" cy="9061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p>
            <a:pPr algn="l" fontAlgn="t"/>
            <a:r>
              <a:rPr lang="en-US" altLang="zh-CN" sz="3600" b="1" dirty="0">
                <a:solidFill>
                  <a:schemeClr val="bg1"/>
                </a:solidFill>
                <a:latin typeface="Calibri" panose="020F0502020204030204" charset="0"/>
              </a:rPr>
              <a:t>12</a:t>
            </a:r>
            <a:endParaRPr lang="en-US" altLang="zh-CN" sz="3600" b="1" dirty="0">
              <a:solidFill>
                <a:schemeClr val="bg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74685" y="1890745"/>
            <a:ext cx="724262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latin typeface="Calibri" panose="020F0502020204030204" charset="0"/>
                <a:ea typeface="Calibri" panose="020F0502020204030204" charset="0"/>
              </a:rPr>
              <a:t>THANK YOU</a:t>
            </a:r>
            <a:endParaRPr lang="en-US" altLang="zh-CN" sz="4800" dirty="0">
              <a:latin typeface="Calibri" panose="020F0502020204030204" charset="0"/>
              <a:ea typeface="Calibri" panose="020F05020202040302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42858" y="3073317"/>
            <a:ext cx="1291772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595914" y="3505695"/>
            <a:ext cx="500017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Arial" panose="020B0604020202020204" pitchFamily="34" charset="0"/>
              </a:rPr>
              <a:t>Grateful to the Archer team for providing me the opportunity to present my case study.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2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3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4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5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6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7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8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9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10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11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12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3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4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5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6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7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8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19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20.xml><?xml version="1.0" encoding="utf-8"?>
<p:tagLst xmlns:p="http://schemas.openxmlformats.org/presentationml/2006/main">
  <p:tag name="KSO_WM_DIAGRAM_VIRTUALLY_FRAME" val="{&quot;height&quot;:378.37661417322835,&quot;left&quot;:60.25,&quot;top&quot;:111.7796850393701,&quot;width&quot;:880.4}"/>
</p:tagLst>
</file>

<file path=ppt/tags/tag21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22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23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24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ags/tag25.xml><?xml version="1.0" encoding="utf-8"?>
<p:tagLst xmlns:p="http://schemas.openxmlformats.org/presentationml/2006/main">
  <p:tag name="KSO_WM_DIAGRAM_VIRTUALLY_FRAME" val="{&quot;height&quot;:288.92661417322836,&quot;left&quot;:60.25,&quot;top&quot;:111.7796850393701,&quot;width&quot;:88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5555</Words>
  <Application>WPS Presentation</Application>
  <PresentationFormat>宽屏</PresentationFormat>
  <Paragraphs>229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Microsoft YaHei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Kande Sravana Lekha</cp:lastModifiedBy>
  <cp:revision>99</cp:revision>
  <dcterms:created xsi:type="dcterms:W3CDTF">2017-12-31T00:59:00Z</dcterms:created>
  <dcterms:modified xsi:type="dcterms:W3CDTF">2025-10-12T18:15:36Z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3EF85A27CD464ED89BC10CA7DF78B2AB_13</vt:lpwstr>
  </property>
</Properties>
</file>